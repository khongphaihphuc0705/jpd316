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430" r:id="rId3"/>
    <p:sldId id="429" r:id="rId4"/>
    <p:sldId id="470" r:id="rId5"/>
    <p:sldId id="547" r:id="rId6"/>
    <p:sldId id="542" r:id="rId7"/>
    <p:sldId id="544" r:id="rId8"/>
    <p:sldId id="54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1D2B"/>
    <a:srgbClr val="5E9C53"/>
    <a:srgbClr val="D9910B"/>
    <a:srgbClr val="256766"/>
    <a:srgbClr val="1A1E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77025" autoAdjust="0"/>
  </p:normalViewPr>
  <p:slideViewPr>
    <p:cSldViewPr snapToGrid="0" showGuides="1">
      <p:cViewPr varScale="1">
        <p:scale>
          <a:sx n="49" d="100"/>
          <a:sy n="49" d="100"/>
        </p:scale>
        <p:origin x="540" y="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Thi Kim Oanh (FE FPTU CT)" userId="33772939-cd87-45c1-be61-e0648bc25a53" providerId="ADAL" clId="{FE1E6BF0-9CE5-4726-B1AC-27A541F4CC26}"/>
    <pc:docChg chg="custSel delSld modSld">
      <pc:chgData name="Le Thi Kim Oanh (FE FPTU CT)" userId="33772939-cd87-45c1-be61-e0648bc25a53" providerId="ADAL" clId="{FE1E6BF0-9CE5-4726-B1AC-27A541F4CC26}" dt="2021-09-14T07:24:14.039" v="3" actId="47"/>
      <pc:docMkLst>
        <pc:docMk/>
      </pc:docMkLst>
      <pc:sldChg chg="delSp mod">
        <pc:chgData name="Le Thi Kim Oanh (FE FPTU CT)" userId="33772939-cd87-45c1-be61-e0648bc25a53" providerId="ADAL" clId="{FE1E6BF0-9CE5-4726-B1AC-27A541F4CC26}" dt="2021-09-14T07:23:56.519" v="1" actId="478"/>
        <pc:sldMkLst>
          <pc:docMk/>
          <pc:sldMk cId="886559900" sldId="430"/>
        </pc:sldMkLst>
        <pc:spChg chg="del">
          <ac:chgData name="Le Thi Kim Oanh (FE FPTU CT)" userId="33772939-cd87-45c1-be61-e0648bc25a53" providerId="ADAL" clId="{FE1E6BF0-9CE5-4726-B1AC-27A541F4CC26}" dt="2021-09-14T07:23:55.017" v="0" actId="478"/>
          <ac:spMkLst>
            <pc:docMk/>
            <pc:sldMk cId="886559900" sldId="430"/>
            <ac:spMk id="15" creationId="{9C788273-1AEB-44E3-B90A-617F3F3462B9}"/>
          </ac:spMkLst>
        </pc:spChg>
        <pc:spChg chg="del">
          <ac:chgData name="Le Thi Kim Oanh (FE FPTU CT)" userId="33772939-cd87-45c1-be61-e0648bc25a53" providerId="ADAL" clId="{FE1E6BF0-9CE5-4726-B1AC-27A541F4CC26}" dt="2021-09-14T07:23:56.519" v="1" actId="478"/>
          <ac:spMkLst>
            <pc:docMk/>
            <pc:sldMk cId="886559900" sldId="430"/>
            <ac:spMk id="16" creationId="{0D5ACDDE-862D-4FD7-9D73-CD0CDD17E919}"/>
          </ac:spMkLst>
        </pc:spChg>
      </pc:sldChg>
      <pc:sldChg chg="del">
        <pc:chgData name="Le Thi Kim Oanh (FE FPTU CT)" userId="33772939-cd87-45c1-be61-e0648bc25a53" providerId="ADAL" clId="{FE1E6BF0-9CE5-4726-B1AC-27A541F4CC26}" dt="2021-09-14T07:24:11.628" v="2" actId="47"/>
        <pc:sldMkLst>
          <pc:docMk/>
          <pc:sldMk cId="3493391816" sldId="545"/>
        </pc:sldMkLst>
      </pc:sldChg>
      <pc:sldChg chg="del">
        <pc:chgData name="Le Thi Kim Oanh (FE FPTU CT)" userId="33772939-cd87-45c1-be61-e0648bc25a53" providerId="ADAL" clId="{FE1E6BF0-9CE5-4726-B1AC-27A541F4CC26}" dt="2021-09-14T07:24:14.039" v="3" actId="47"/>
        <pc:sldMkLst>
          <pc:docMk/>
          <pc:sldMk cId="2483994906" sldId="54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4AC79-637E-4A71-B73B-6E806EDF51EE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8D07D-93F7-416F-A73A-05ECF16F3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0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1286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9844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0262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1956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8576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8670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227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8C7FB-2231-4C26-BB4A-5BA9894A6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18C77-A614-417B-BFC7-CBA53A8BB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7716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46F45-CA2A-4988-873F-0116AC843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943610" cy="81474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25123F-A5C6-452C-853C-53235A48CA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466735" cy="3480619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0EA6298-9743-48B8-A25C-863BFFCB91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30065" y="1946275"/>
            <a:ext cx="4542810" cy="309767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329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F0BCD-32CE-47F3-8315-2473B8AF7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3059B-2D6C-42DF-8074-E72342B29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109A9-74C6-4023-9D79-7A19C6307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4CFD5-90D6-432F-982A-07461275F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5A442-C7AE-48C1-A3E8-4B6127CD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EE63-C26E-421A-9CD1-766899CB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48466-D14C-4196-A871-13A00CE15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42D23-2217-473F-B4F1-927F290E1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24888-79E9-4FC9-982B-6C9DB386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37D11-5F5D-4098-A402-1EEE154A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3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8151-881E-45F1-B5A1-3486E147F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9466A-EF98-4CBB-A36A-A5D679309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B4661-4C1D-4729-97C4-09C1E14E8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4AE64-DDF8-4823-8895-A51D00245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416DA-647E-4533-AC1E-34BAB737B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3EB35-FFDF-424A-9F11-1EA3BD27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99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D358B-1377-48AB-832D-430031707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A7963-751E-45AC-8609-D56E81E28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B208A-D174-4295-B7E2-24EE8E954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17FF0-5F6E-4193-B326-0659B6B061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28880-116C-42E4-AC92-D5BB5A644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8204A1-F53A-4EE0-9CDA-CC556A2F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FC743E-65FF-4520-BEFB-283E61A87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48EE8-1196-4741-B910-F79F488CE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96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54CBB-8EA5-4786-9A6E-6AD78DC24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0D110-F6DD-48CB-B86A-DCD389BF4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96B01-C666-4C99-B6D5-0312A7D6A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2530F-F05A-4103-ACA3-8524E395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1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774ECB-40C6-4E27-B12A-76765E06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48A493-46CF-4B48-9829-0B9348D9B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94916-4042-4D8E-892A-914EFC5C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58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9A22-F9BC-46DC-AEE7-154C4212F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0601E-00A8-49B9-A830-4F65C30C5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4117-F189-49C1-B50B-A6E6F7D45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FDE5D-3801-4B6B-BB4E-8C13D3FA8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2F431-0B70-4957-8502-1C9D5ED2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A9ED5-091C-47EC-A349-9DDCAFB0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6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373A-8FCB-4D17-8EAD-FFC347B84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F3061-C6B3-46FD-9AA6-647F375FF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56BAD-90B9-4DDC-9323-CE6E7CA3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BCEDF-9268-40D0-8BD3-2F66ED598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78D75-586A-435B-AEB3-3B663B057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3D7D3-8D4E-4C0C-93BA-6805456B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45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6861-86FD-46D3-8C4A-BD8F8739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C41C9-0E4E-4630-AD3A-F9C011124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79CB1-9562-4BE1-B3DF-73F80ED0F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F8E2C-7661-4D7C-84B6-9613A552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337A5-7C23-45ED-A420-AFC1BDEB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83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581C5C-90C6-4213-9929-35460CC0E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5DB24-352A-43EE-BF2B-4B92429C6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6E31F-E745-417D-96CF-F813DB47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4D048-BFA9-4C3F-8E7F-5A04C2491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F8832-E1F7-428C-9C5E-4EDA77C0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22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996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6D6F93-6FDF-4426-9952-14A26626E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8CDEE-2564-4A48-A6AE-B4267AB94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6B168-9AF9-46D3-A943-488DA535D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A7723-1DC3-4BA8-87A4-36C9907B3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B9CAE-CE0B-4F9B-AFE8-36EF8BF3D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05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AF1E5F-AE49-4BFB-A904-4DB64475F4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33" y="76169"/>
            <a:ext cx="5304739" cy="556996"/>
          </a:xfrm>
          <a:prstGeom prst="rect">
            <a:avLst/>
          </a:prstGeom>
        </p:spPr>
      </p:pic>
      <p:pic>
        <p:nvPicPr>
          <p:cNvPr id="2" name="Picture 2" descr="ペットと避難している人たちのイラスト">
            <a:extLst>
              <a:ext uri="{FF2B5EF4-FFF2-40B4-BE49-F238E27FC236}">
                <a16:creationId xmlns:a16="http://schemas.microsoft.com/office/drawing/2014/main" id="{A4E34955-B981-45EA-BD27-FB70B4141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7472" y="1282012"/>
            <a:ext cx="4614130" cy="4614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CC93BCF8-1575-47FE-83D7-E49D0283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7928" y="1702959"/>
            <a:ext cx="4558191" cy="1283186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6000" b="1" dirty="0">
                <a:solidFill>
                  <a:srgbClr val="FF0000"/>
                </a:solidFill>
              </a:rPr>
              <a:t>第</a:t>
            </a:r>
            <a:r>
              <a:rPr lang="vi-VN" altLang="ja-JP" sz="6000" b="1" dirty="0">
                <a:solidFill>
                  <a:srgbClr val="FF0000"/>
                </a:solidFill>
              </a:rPr>
              <a:t>5</a:t>
            </a:r>
            <a:r>
              <a:rPr lang="ja-JP" altLang="en-US" sz="6000" b="1" dirty="0">
                <a:solidFill>
                  <a:srgbClr val="FF0000"/>
                </a:solidFill>
              </a:rPr>
              <a:t>課</a:t>
            </a:r>
            <a:endParaRPr lang="en-US" sz="6000" b="1" dirty="0">
              <a:solidFill>
                <a:srgbClr val="FF0000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42536D-8522-415B-8140-96FCF821C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1056" y="3234881"/>
            <a:ext cx="4558191" cy="2819365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n-US" altLang="ja-JP" sz="2400" b="1" dirty="0">
              <a:solidFill>
                <a:srgbClr val="FEFFFF"/>
              </a:solidFill>
            </a:endParaRPr>
          </a:p>
          <a:p>
            <a:pPr marL="0" indent="0" algn="ctr">
              <a:buNone/>
            </a:pPr>
            <a:r>
              <a:rPr lang="ja-JP" altLang="en-US" sz="6000" b="1" dirty="0">
                <a:solidFill>
                  <a:srgbClr val="FF0000"/>
                </a:solidFill>
              </a:rPr>
              <a:t>緊急事態</a:t>
            </a:r>
            <a:endParaRPr lang="en-US" sz="6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037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ight Arrow 31">
            <a:extLst>
              <a:ext uri="{FF2B5EF4-FFF2-40B4-BE49-F238E27FC236}">
                <a16:creationId xmlns:a16="http://schemas.microsoft.com/office/drawing/2014/main" id="{AF13FB71-FB39-43DD-8C61-DD31CDAF2B18}"/>
              </a:ext>
            </a:extLst>
          </p:cNvPr>
          <p:cNvSpPr/>
          <p:nvPr/>
        </p:nvSpPr>
        <p:spPr>
          <a:xfrm>
            <a:off x="3456782" y="1448955"/>
            <a:ext cx="4475380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>
              <a:solidFill>
                <a:schemeClr val="accent3"/>
              </a:solidFill>
            </a:endParaRPr>
          </a:p>
        </p:txBody>
      </p:sp>
      <p:sp>
        <p:nvSpPr>
          <p:cNvPr id="67" name="Right Arrow 50">
            <a:extLst>
              <a:ext uri="{FF2B5EF4-FFF2-40B4-BE49-F238E27FC236}">
                <a16:creationId xmlns:a16="http://schemas.microsoft.com/office/drawing/2014/main" id="{DA11F572-F2F7-4422-966B-B26E1FC9651E}"/>
              </a:ext>
            </a:extLst>
          </p:cNvPr>
          <p:cNvSpPr/>
          <p:nvPr/>
        </p:nvSpPr>
        <p:spPr>
          <a:xfrm>
            <a:off x="3456781" y="2658449"/>
            <a:ext cx="4475380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accent2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5BED15D-0C26-48BE-B68B-62AD18DD1C26}"/>
              </a:ext>
            </a:extLst>
          </p:cNvPr>
          <p:cNvSpPr/>
          <p:nvPr/>
        </p:nvSpPr>
        <p:spPr>
          <a:xfrm>
            <a:off x="3456781" y="0"/>
            <a:ext cx="45719" cy="687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0D9759D-D2A1-4776-9FE3-C180179E2D07}"/>
              </a:ext>
            </a:extLst>
          </p:cNvPr>
          <p:cNvSpPr txBox="1"/>
          <p:nvPr/>
        </p:nvSpPr>
        <p:spPr>
          <a:xfrm>
            <a:off x="1998813" y="172503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1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45780F6-BE70-4CDD-8B06-0F7CB32B539B}"/>
              </a:ext>
            </a:extLst>
          </p:cNvPr>
          <p:cNvSpPr txBox="1"/>
          <p:nvPr/>
        </p:nvSpPr>
        <p:spPr>
          <a:xfrm>
            <a:off x="1880987" y="269177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2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813E2F9-8AD4-456C-8DAF-D78D64C46E53}"/>
              </a:ext>
            </a:extLst>
          </p:cNvPr>
          <p:cNvSpPr txBox="1"/>
          <p:nvPr/>
        </p:nvSpPr>
        <p:spPr>
          <a:xfrm>
            <a:off x="1880987" y="365851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3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CBE81C-AF3F-48C4-ABD1-0165CF397291}"/>
              </a:ext>
            </a:extLst>
          </p:cNvPr>
          <p:cNvSpPr txBox="1"/>
          <p:nvPr/>
        </p:nvSpPr>
        <p:spPr>
          <a:xfrm>
            <a:off x="1880987" y="463840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4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282BA71-423F-4FAD-A715-7A62D8245FB8}"/>
              </a:ext>
            </a:extLst>
          </p:cNvPr>
          <p:cNvSpPr txBox="1"/>
          <p:nvPr/>
        </p:nvSpPr>
        <p:spPr>
          <a:xfrm>
            <a:off x="1880987" y="5591997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5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88B2A3-09E1-4ED9-8CB5-A06EA337ED44}"/>
              </a:ext>
            </a:extLst>
          </p:cNvPr>
          <p:cNvSpPr txBox="1"/>
          <p:nvPr/>
        </p:nvSpPr>
        <p:spPr>
          <a:xfrm>
            <a:off x="3629278" y="2929387"/>
            <a:ext cx="4124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solidFill>
                  <a:srgbClr val="5E9C53"/>
                </a:solidFill>
                <a:cs typeface="Arial" pitchFamily="34" charset="0"/>
              </a:rPr>
              <a:t>やってみよう</a:t>
            </a:r>
            <a:r>
              <a:rPr lang="vi-VN" altLang="ja-JP" sz="2800" b="1" dirty="0">
                <a:solidFill>
                  <a:srgbClr val="5E9C53"/>
                </a:solidFill>
                <a:cs typeface="Arial" pitchFamily="34" charset="0"/>
              </a:rPr>
              <a:t> </a:t>
            </a:r>
            <a:r>
              <a:rPr lang="vi-VN" altLang="ja-JP" sz="2400" b="1" dirty="0">
                <a:solidFill>
                  <a:srgbClr val="5E9C53"/>
                </a:solidFill>
                <a:cs typeface="Arial" pitchFamily="34" charset="0"/>
              </a:rPr>
              <a:t>  </a:t>
            </a:r>
            <a:r>
              <a:rPr lang="vi-VN" altLang="ja-JP" sz="2800" b="1" dirty="0">
                <a:solidFill>
                  <a:srgbClr val="5E9C53"/>
                </a:solidFill>
                <a:cs typeface="Arial" pitchFamily="34" charset="0"/>
              </a:rPr>
              <a:t>(69)</a:t>
            </a:r>
            <a:endParaRPr lang="ko-KR" altLang="en-US" sz="2800" b="1" dirty="0">
              <a:solidFill>
                <a:srgbClr val="5E9C53"/>
              </a:solidFill>
              <a:cs typeface="Arial" pitchFamily="34" charset="0"/>
            </a:endParaRPr>
          </a:p>
        </p:txBody>
      </p:sp>
      <p:sp>
        <p:nvSpPr>
          <p:cNvPr id="90" name="Text Placeholder 1">
            <a:extLst>
              <a:ext uri="{FF2B5EF4-FFF2-40B4-BE49-F238E27FC236}">
                <a16:creationId xmlns:a16="http://schemas.microsoft.com/office/drawing/2014/main" id="{A5B4DECC-1281-46B0-9065-19B46646F737}"/>
              </a:ext>
            </a:extLst>
          </p:cNvPr>
          <p:cNvSpPr txBox="1">
            <a:spLocks/>
          </p:cNvSpPr>
          <p:nvPr/>
        </p:nvSpPr>
        <p:spPr>
          <a:xfrm>
            <a:off x="4063636" y="339509"/>
            <a:ext cx="7833090" cy="72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400"/>
              <a:t>I</a:t>
            </a:r>
            <a:endParaRPr 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F6DCCE-80F6-4D0D-97C7-067D35D1D426}"/>
              </a:ext>
            </a:extLst>
          </p:cNvPr>
          <p:cNvSpPr txBox="1"/>
          <p:nvPr/>
        </p:nvSpPr>
        <p:spPr>
          <a:xfrm>
            <a:off x="3765113" y="137201"/>
            <a:ext cx="3853157" cy="923330"/>
          </a:xfrm>
          <a:prstGeom prst="rect">
            <a:avLst/>
          </a:prstGeom>
          <a:solidFill>
            <a:srgbClr val="5E9C53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vi-VN" altLang="ja-JP" sz="5400" dirty="0">
                <a:solidFill>
                  <a:srgbClr val="A11D2B"/>
                </a:solidFill>
              </a:rPr>
              <a:t>SLOT </a:t>
            </a:r>
            <a:r>
              <a:rPr lang="en-US" altLang="ja-JP" sz="5400" dirty="0">
                <a:solidFill>
                  <a:srgbClr val="A11D2B"/>
                </a:solidFill>
              </a:rPr>
              <a:t>52</a:t>
            </a:r>
            <a:endParaRPr lang="en-US" sz="4000" dirty="0">
              <a:solidFill>
                <a:srgbClr val="A11D2B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D98E79-DCBD-40D8-91C0-33E95A32483A}"/>
              </a:ext>
            </a:extLst>
          </p:cNvPr>
          <p:cNvSpPr txBox="1"/>
          <p:nvPr/>
        </p:nvSpPr>
        <p:spPr>
          <a:xfrm>
            <a:off x="3782735" y="1657918"/>
            <a:ext cx="5094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solidFill>
                  <a:srgbClr val="1A1E3B"/>
                </a:solidFill>
                <a:cs typeface="Arial" pitchFamily="34" charset="0"/>
              </a:rPr>
              <a:t>やってみよう</a:t>
            </a:r>
            <a:r>
              <a:rPr lang="vi-VN" altLang="ja-JP" sz="2800" dirty="0">
                <a:solidFill>
                  <a:srgbClr val="1A1E3B"/>
                </a:solidFill>
                <a:cs typeface="Arial" pitchFamily="34" charset="0"/>
              </a:rPr>
              <a:t>(68)</a:t>
            </a:r>
            <a:endParaRPr lang="ko-KR" altLang="en-US" sz="2800" dirty="0">
              <a:solidFill>
                <a:srgbClr val="1A1E3B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559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526" y="962527"/>
            <a:ext cx="10609411" cy="3730870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やってみよう</a:t>
            </a:r>
            <a:r>
              <a:rPr lang="vi-VN" altLang="ja-JP" sz="4000" b="1" dirty="0">
                <a:solidFill>
                  <a:srgbClr val="A11D2B"/>
                </a:solidFill>
              </a:rPr>
              <a:t>(68)</a:t>
            </a:r>
            <a:br>
              <a:rPr lang="en-US" altLang="ja-JP" sz="4000" b="1" dirty="0">
                <a:solidFill>
                  <a:srgbClr val="A11D2B"/>
                </a:solidFill>
              </a:rPr>
            </a:br>
            <a:br>
              <a:rPr lang="en-US" altLang="ja-JP" sz="4000" b="1" dirty="0">
                <a:solidFill>
                  <a:srgbClr val="A11D2B"/>
                </a:solidFill>
              </a:rPr>
            </a:br>
            <a:r>
              <a:rPr lang="ja-JP" altLang="en-US" sz="2800" b="1" dirty="0">
                <a:solidFill>
                  <a:srgbClr val="A11D2B"/>
                </a:solidFill>
                <a:highlight>
                  <a:srgbClr val="FFFF00"/>
                </a:highlight>
              </a:rPr>
              <a:t>学校に向かっているとき、電車が止まってしまって、授業に間に合わなくてしまいました。先生に電話をして、状況を説明し、どうしたらいいか聞きましょう。</a:t>
            </a:r>
            <a:br>
              <a:rPr lang="en-US" altLang="ja-JP" sz="2800" b="1" dirty="0">
                <a:solidFill>
                  <a:srgbClr val="A11D2B"/>
                </a:solidFill>
                <a:highlight>
                  <a:srgbClr val="FFFF00"/>
                </a:highlight>
              </a:rPr>
            </a:br>
            <a:endParaRPr lang="en-US" sz="4000" b="1" dirty="0">
              <a:solidFill>
                <a:srgbClr val="A11D2B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8392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674" y="890337"/>
            <a:ext cx="10984831" cy="4415588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交通機関がとまっている状況を説明するときの表現　</a:t>
            </a:r>
            <a:br>
              <a:rPr lang="en-US" altLang="ja-JP" sz="4000" b="1" dirty="0">
                <a:solidFill>
                  <a:srgbClr val="A11D2B"/>
                </a:solidFill>
              </a:rPr>
            </a:br>
            <a:r>
              <a:rPr lang="ja-JP" altLang="en-US" sz="2800" b="1" dirty="0">
                <a:solidFill>
                  <a:srgbClr val="A11D2B"/>
                </a:solidFill>
              </a:rPr>
              <a:t>（ワークブック</a:t>
            </a:r>
            <a:r>
              <a:rPr lang="en-US" altLang="ja-JP" sz="2800" b="1" dirty="0">
                <a:solidFill>
                  <a:srgbClr val="A11D2B"/>
                </a:solidFill>
              </a:rPr>
              <a:t>―</a:t>
            </a:r>
            <a:r>
              <a:rPr lang="vi-VN" altLang="ja-JP" sz="2800" b="1" dirty="0">
                <a:solidFill>
                  <a:srgbClr val="A11D2B"/>
                </a:solidFill>
              </a:rPr>
              <a:t>36 &amp; 37</a:t>
            </a:r>
            <a:r>
              <a:rPr lang="ja-JP" altLang="en-US" sz="2800" b="1" dirty="0">
                <a:solidFill>
                  <a:srgbClr val="A11D2B"/>
                </a:solidFill>
              </a:rPr>
              <a:t>ページ）　</a:t>
            </a:r>
            <a:endParaRPr lang="en-US" sz="40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1823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ext, letter&#10;&#10;Description automatically generated">
            <a:extLst>
              <a:ext uri="{FF2B5EF4-FFF2-40B4-BE49-F238E27FC236}">
                <a16:creationId xmlns:a16="http://schemas.microsoft.com/office/drawing/2014/main" id="{83CC4C62-1A15-45BC-A9C8-78A9B90DA0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758" y="1429566"/>
            <a:ext cx="10915545" cy="307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272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8" y="914401"/>
            <a:ext cx="10681600" cy="3778996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800" b="1" dirty="0">
                <a:solidFill>
                  <a:srgbClr val="A11D2B"/>
                </a:solidFill>
              </a:rPr>
              <a:t>やってみよう</a:t>
            </a:r>
            <a:r>
              <a:rPr lang="vi-VN" altLang="ja-JP" sz="4800" b="1" dirty="0">
                <a:solidFill>
                  <a:srgbClr val="A11D2B"/>
                </a:solidFill>
              </a:rPr>
              <a:t>(69)</a:t>
            </a:r>
            <a:br>
              <a:rPr lang="en-US" altLang="ja-JP" sz="4800" b="1" dirty="0">
                <a:solidFill>
                  <a:srgbClr val="A11D2B"/>
                </a:solidFill>
              </a:rPr>
            </a:br>
            <a:br>
              <a:rPr lang="en-US" altLang="ja-JP" sz="4800" b="1" dirty="0">
                <a:solidFill>
                  <a:srgbClr val="A11D2B"/>
                </a:solidFill>
              </a:rPr>
            </a:br>
            <a:r>
              <a:rPr lang="ja-JP" altLang="en-US" sz="4000" b="1" dirty="0">
                <a:solidFill>
                  <a:srgbClr val="A11D2B"/>
                </a:solidFill>
                <a:highlight>
                  <a:srgbClr val="FFFF00"/>
                </a:highlight>
              </a:rPr>
              <a:t>イラストを見ながら、ケガをしたときの状況と今の状況を医者に説明しましょう。</a:t>
            </a:r>
            <a:endParaRPr lang="en-US" sz="4000" b="1" dirty="0">
              <a:solidFill>
                <a:srgbClr val="D9910B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37232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675" y="890337"/>
            <a:ext cx="10443410" cy="4848726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800" b="1" dirty="0">
                <a:solidFill>
                  <a:srgbClr val="A11D2B"/>
                </a:solidFill>
              </a:rPr>
              <a:t>事故の状況とケガの説明をするときの言葉・表現</a:t>
            </a:r>
            <a:br>
              <a:rPr lang="en-US" altLang="ja-JP" sz="4800" b="1" dirty="0">
                <a:solidFill>
                  <a:srgbClr val="A11D2B"/>
                </a:solidFill>
              </a:rPr>
            </a:br>
            <a:br>
              <a:rPr lang="en-US" altLang="ja-JP" sz="4000" b="1" dirty="0">
                <a:solidFill>
                  <a:srgbClr val="A11D2B"/>
                </a:solidFill>
              </a:rPr>
            </a:br>
            <a:r>
              <a:rPr lang="ja-JP" altLang="en-US" sz="3200" b="1" dirty="0">
                <a:solidFill>
                  <a:srgbClr val="A11D2B"/>
                </a:solidFill>
              </a:rPr>
              <a:t>（ワークブック</a:t>
            </a:r>
            <a:r>
              <a:rPr lang="en-US" altLang="ja-JP" sz="3200" b="1" dirty="0">
                <a:solidFill>
                  <a:srgbClr val="A11D2B"/>
                </a:solidFill>
              </a:rPr>
              <a:t>―</a:t>
            </a:r>
            <a:r>
              <a:rPr lang="vi-VN" altLang="ja-JP" sz="3200" b="1" dirty="0">
                <a:solidFill>
                  <a:srgbClr val="A11D2B"/>
                </a:solidFill>
              </a:rPr>
              <a:t>38 &amp; 39</a:t>
            </a:r>
            <a:r>
              <a:rPr lang="ja-JP" altLang="en-US" sz="3200" b="1" dirty="0">
                <a:solidFill>
                  <a:srgbClr val="A11D2B"/>
                </a:solidFill>
              </a:rPr>
              <a:t>ページ）　</a:t>
            </a:r>
            <a:endParaRPr lang="en-US" sz="40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691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B946EA4A-B88A-47C0-8BA2-219029AE80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18" y="718457"/>
            <a:ext cx="10991514" cy="480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434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7213</TotalTime>
  <Words>256</Words>
  <Application>Microsoft Office PowerPoint</Application>
  <PresentationFormat>Widescreen</PresentationFormat>
  <Paragraphs>29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第5課</vt:lpstr>
      <vt:lpstr>PowerPoint Presentation</vt:lpstr>
      <vt:lpstr>やってみよう(68)  学校に向かっているとき、電車が止まってしまって、授業に間に合わなくてしまいました。先生に電話をして、状況を説明し、どうしたらいいか聞きましょう。 </vt:lpstr>
      <vt:lpstr>交通機関がとまっている状況を説明するときの表現　 （ワークブック―36 &amp; 37ページ）　</vt:lpstr>
      <vt:lpstr>PowerPoint Presentation</vt:lpstr>
      <vt:lpstr>やってみよう(69)  イラストを見ながら、ケガをしたときの状況と今の状況を医者に説明しましょう。</vt:lpstr>
      <vt:lpstr>事故の状況とケガの説明をするときの言葉・表現  （ワークブック―38 &amp; 39ページ）　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Oanh Le</dc:creator>
  <cp:lastModifiedBy>Le Thi Kim Oanh (FE FPTU CT)</cp:lastModifiedBy>
  <cp:revision>20</cp:revision>
  <dcterms:created xsi:type="dcterms:W3CDTF">2021-07-16T02:45:36Z</dcterms:created>
  <dcterms:modified xsi:type="dcterms:W3CDTF">2021-09-14T07:24:21Z</dcterms:modified>
</cp:coreProperties>
</file>